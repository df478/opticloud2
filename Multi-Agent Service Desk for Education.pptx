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elios Extended Bold" charset="1" panose="02000805050000020004"/>
      <p:regular r:id="rId17"/>
    </p:embeddedFont>
    <p:embeddedFont>
      <p:font typeface="Helios Extended" charset="1" panose="0200050504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16573" y="-608167"/>
            <a:ext cx="3668976" cy="11503335"/>
            <a:chOff x="0" y="0"/>
            <a:chExt cx="1068490" cy="33500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8490" cy="3350036"/>
            </a:xfrm>
            <a:custGeom>
              <a:avLst/>
              <a:gdLst/>
              <a:ahLst/>
              <a:cxnLst/>
              <a:rect r="r" b="b" t="t" l="l"/>
              <a:pathLst>
                <a:path h="3350036" w="1068490">
                  <a:moveTo>
                    <a:pt x="0" y="0"/>
                  </a:moveTo>
                  <a:lnTo>
                    <a:pt x="1068490" y="0"/>
                  </a:lnTo>
                  <a:lnTo>
                    <a:pt x="1068490" y="3350036"/>
                  </a:lnTo>
                  <a:lnTo>
                    <a:pt x="0" y="33500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068490" cy="3407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1147823" y="2132118"/>
            <a:ext cx="6206476" cy="6022764"/>
            <a:chOff x="0" y="0"/>
            <a:chExt cx="6350000" cy="6162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31800" y="431800"/>
              <a:ext cx="591820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918200">
                  <a:moveTo>
                    <a:pt x="5486400" y="0"/>
                  </a:moveTo>
                  <a:lnTo>
                    <a:pt x="5486400" y="5298440"/>
                  </a:lnTo>
                  <a:lnTo>
                    <a:pt x="0" y="5298440"/>
                  </a:lnTo>
                  <a:lnTo>
                    <a:pt x="0" y="5730240"/>
                  </a:lnTo>
                  <a:lnTo>
                    <a:pt x="5918200" y="5730240"/>
                  </a:lnTo>
                  <a:lnTo>
                    <a:pt x="5918200" y="0"/>
                  </a:lnTo>
                  <a:close/>
                </a:path>
              </a:pathLst>
            </a:custGeom>
            <a:solidFill>
              <a:srgbClr val="9E969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1820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918200">
                  <a:moveTo>
                    <a:pt x="431800" y="0"/>
                  </a:moveTo>
                  <a:lnTo>
                    <a:pt x="0" y="0"/>
                  </a:lnTo>
                  <a:lnTo>
                    <a:pt x="0" y="5730240"/>
                  </a:lnTo>
                  <a:lnTo>
                    <a:pt x="5918200" y="5730240"/>
                  </a:lnTo>
                  <a:lnTo>
                    <a:pt x="5918200" y="0"/>
                  </a:lnTo>
                  <a:close/>
                </a:path>
              </a:pathLst>
            </a:custGeom>
            <a:blipFill>
              <a:blip r:embed="rId2"/>
              <a:stretch>
                <a:fillRect l="0" t="-1640" r="0" b="-164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5250" y="104775"/>
            <a:ext cx="2816747" cy="1541529"/>
          </a:xfrm>
          <a:custGeom>
            <a:avLst/>
            <a:gdLst/>
            <a:ahLst/>
            <a:cxnLst/>
            <a:rect r="r" b="b" t="t" l="l"/>
            <a:pathLst>
              <a:path h="1541529" w="2816747">
                <a:moveTo>
                  <a:pt x="0" y="0"/>
                </a:moveTo>
                <a:lnTo>
                  <a:pt x="2816747" y="0"/>
                </a:lnTo>
                <a:lnTo>
                  <a:pt x="2816747" y="1541529"/>
                </a:lnTo>
                <a:lnTo>
                  <a:pt x="0" y="1541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250" y="8630225"/>
            <a:ext cx="2816747" cy="1541529"/>
          </a:xfrm>
          <a:custGeom>
            <a:avLst/>
            <a:gdLst/>
            <a:ahLst/>
            <a:cxnLst/>
            <a:rect r="r" b="b" t="t" l="l"/>
            <a:pathLst>
              <a:path h="1541529" w="2816747">
                <a:moveTo>
                  <a:pt x="0" y="0"/>
                </a:moveTo>
                <a:lnTo>
                  <a:pt x="2816747" y="0"/>
                </a:lnTo>
                <a:lnTo>
                  <a:pt x="2816747" y="1541529"/>
                </a:lnTo>
                <a:lnTo>
                  <a:pt x="0" y="1541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809969"/>
            <a:ext cx="9779164" cy="5019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7"/>
              </a:lnSpc>
            </a:pPr>
            <a:r>
              <a:rPr lang="en-US" b="true" sz="8564" spc="-334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MULTI-AGENT SERVICE DESK FOR EDUCATION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96681" y="8119655"/>
            <a:ext cx="6466458" cy="102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REDUCING WAIT TIMES, CONCURRENCY AND BUILDING TRUST THROUGH SECURE AUTOMATION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4129" y="6972455"/>
            <a:ext cx="6466458" cy="333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5"/>
              </a:lnSpc>
            </a:pPr>
            <a:r>
              <a:rPr lang="en-US" sz="2163" spc="-84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By Opticloud2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31515"/>
            <a:ext cx="9779164" cy="1295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7"/>
              </a:lnSpc>
            </a:pPr>
            <a:r>
              <a:rPr lang="en-US" b="true" sz="8564" spc="-334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AGENDA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4018179"/>
          <a:ext cx="8107304" cy="5056587"/>
        </p:xfrm>
        <a:graphic>
          <a:graphicData uri="http://schemas.openxmlformats.org/drawingml/2006/table">
            <a:tbl>
              <a:tblPr/>
              <a:tblGrid>
                <a:gridCol w="741688"/>
                <a:gridCol w="3917652"/>
              </a:tblGrid>
              <a:tr h="12104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5"/>
                        </a:lnSpc>
                        <a:defRPr/>
                      </a:pPr>
                      <a:r>
                        <a:rPr lang="en-US" sz="2247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3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5"/>
                        </a:lnSpc>
                        <a:defRPr/>
                      </a:pPr>
                      <a:r>
                        <a:rPr lang="en-US" sz="2247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P</a:t>
                      </a:r>
                      <a:r>
                        <a:rPr lang="en-US" sz="2247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roblem and objective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52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5"/>
                        </a:lnSpc>
                        <a:defRPr/>
                      </a:pPr>
                      <a:r>
                        <a:rPr lang="en-US" sz="2247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4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5"/>
                        </a:lnSpc>
                        <a:defRPr/>
                      </a:pPr>
                      <a:r>
                        <a:rPr lang="en-US" sz="2247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W</a:t>
                      </a:r>
                      <a:r>
                        <a:rPr lang="en-US" sz="2247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ait-time metrics (humans vs automation)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04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5"/>
                        </a:lnSpc>
                        <a:defRPr/>
                      </a:pPr>
                      <a:r>
                        <a:rPr lang="en-US" sz="2247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5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5"/>
                        </a:lnSpc>
                        <a:defRPr/>
                      </a:pPr>
                      <a:r>
                        <a:rPr lang="en-US" sz="2247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Architecture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04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5"/>
                        </a:lnSpc>
                        <a:defRPr/>
                      </a:pPr>
                      <a:r>
                        <a:rPr lang="en-US" sz="2247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6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5"/>
                        </a:lnSpc>
                        <a:defRPr/>
                      </a:pPr>
                      <a:r>
                        <a:rPr lang="en-US" sz="2247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Design: concurrency and scalability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9398740" y="4018179"/>
          <a:ext cx="8107304" cy="5056587"/>
        </p:xfrm>
        <a:graphic>
          <a:graphicData uri="http://schemas.openxmlformats.org/drawingml/2006/table">
            <a:tbl>
              <a:tblPr/>
              <a:tblGrid>
                <a:gridCol w="741688"/>
                <a:gridCol w="3917652"/>
              </a:tblGrid>
              <a:tr h="12104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5"/>
                        </a:lnSpc>
                        <a:defRPr/>
                      </a:pPr>
                      <a:r>
                        <a:rPr lang="en-US" sz="2247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7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5"/>
                        </a:lnSpc>
                        <a:defRPr/>
                      </a:pPr>
                      <a:r>
                        <a:rPr lang="en-US" sz="2247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Example concurrent flow</a:t>
                      </a:r>
                      <a:r>
                        <a:rPr lang="en-US" sz="2247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 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52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5"/>
                        </a:lnSpc>
                        <a:defRPr/>
                      </a:pPr>
                      <a:r>
                        <a:rPr lang="en-US" sz="2247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8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5"/>
                        </a:lnSpc>
                        <a:defRPr/>
                      </a:pPr>
                      <a:r>
                        <a:rPr lang="en-US" sz="2247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How we build trust (security and transparency)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04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5"/>
                        </a:lnSpc>
                        <a:defRPr/>
                      </a:pPr>
                      <a:r>
                        <a:rPr lang="en-US" sz="2247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9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5"/>
                        </a:lnSpc>
                        <a:defRPr/>
                      </a:pPr>
                      <a:r>
                        <a:rPr lang="en-US" sz="2247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Conclusions and next steps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04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5"/>
                        </a:lnSpc>
                        <a:defRPr/>
                      </a:pPr>
                      <a:r>
                        <a:rPr lang="en-US" sz="2247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10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5"/>
                        </a:lnSpc>
                        <a:defRPr/>
                      </a:pP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42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true" flipV="true" rot="5400000">
            <a:off x="15217047" y="51493"/>
            <a:ext cx="1065046" cy="3019461"/>
          </a:xfrm>
          <a:custGeom>
            <a:avLst/>
            <a:gdLst/>
            <a:ahLst/>
            <a:cxnLst/>
            <a:rect r="r" b="b" t="t" l="l"/>
            <a:pathLst>
              <a:path h="3019461" w="1065046">
                <a:moveTo>
                  <a:pt x="1065046" y="3019460"/>
                </a:moveTo>
                <a:lnTo>
                  <a:pt x="0" y="3019460"/>
                </a:lnTo>
                <a:lnTo>
                  <a:pt x="0" y="0"/>
                </a:lnTo>
                <a:lnTo>
                  <a:pt x="1065046" y="0"/>
                </a:lnTo>
                <a:lnTo>
                  <a:pt x="1065046" y="301946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681192" y="-824694"/>
            <a:ext cx="22159865" cy="1226633"/>
            <a:chOff x="0" y="0"/>
            <a:chExt cx="6453464" cy="3572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53464" cy="357224"/>
            </a:xfrm>
            <a:custGeom>
              <a:avLst/>
              <a:gdLst/>
              <a:ahLst/>
              <a:cxnLst/>
              <a:rect r="r" b="b" t="t" l="l"/>
              <a:pathLst>
                <a:path h="357224" w="6453464">
                  <a:moveTo>
                    <a:pt x="0" y="0"/>
                  </a:moveTo>
                  <a:lnTo>
                    <a:pt x="6453464" y="0"/>
                  </a:lnTo>
                  <a:lnTo>
                    <a:pt x="6453464" y="357224"/>
                  </a:lnTo>
                  <a:lnTo>
                    <a:pt x="0" y="35722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6453464" cy="414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935932" y="9873431"/>
            <a:ext cx="22159865" cy="1226633"/>
            <a:chOff x="0" y="0"/>
            <a:chExt cx="6453464" cy="3572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53464" cy="357224"/>
            </a:xfrm>
            <a:custGeom>
              <a:avLst/>
              <a:gdLst/>
              <a:ahLst/>
              <a:cxnLst/>
              <a:rect r="r" b="b" t="t" l="l"/>
              <a:pathLst>
                <a:path h="357224" w="6453464">
                  <a:moveTo>
                    <a:pt x="0" y="0"/>
                  </a:moveTo>
                  <a:lnTo>
                    <a:pt x="6453464" y="0"/>
                  </a:lnTo>
                  <a:lnTo>
                    <a:pt x="6453464" y="357224"/>
                  </a:lnTo>
                  <a:lnTo>
                    <a:pt x="0" y="35722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6453464" cy="414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5742" y="-608167"/>
            <a:ext cx="3668976" cy="11503335"/>
            <a:chOff x="0" y="0"/>
            <a:chExt cx="1068490" cy="33500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8490" cy="3350036"/>
            </a:xfrm>
            <a:custGeom>
              <a:avLst/>
              <a:gdLst/>
              <a:ahLst/>
              <a:cxnLst/>
              <a:rect r="r" b="b" t="t" l="l"/>
              <a:pathLst>
                <a:path h="3350036" w="1068490">
                  <a:moveTo>
                    <a:pt x="0" y="0"/>
                  </a:moveTo>
                  <a:lnTo>
                    <a:pt x="1068490" y="0"/>
                  </a:lnTo>
                  <a:lnTo>
                    <a:pt x="1068490" y="3350036"/>
                  </a:lnTo>
                  <a:lnTo>
                    <a:pt x="0" y="33500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068490" cy="3407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06992" y="2132118"/>
            <a:ext cx="6206476" cy="6022764"/>
            <a:chOff x="0" y="0"/>
            <a:chExt cx="6350000" cy="6162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31800" y="431800"/>
              <a:ext cx="591820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918200">
                  <a:moveTo>
                    <a:pt x="5486400" y="0"/>
                  </a:moveTo>
                  <a:lnTo>
                    <a:pt x="5486400" y="5298440"/>
                  </a:lnTo>
                  <a:lnTo>
                    <a:pt x="0" y="5298440"/>
                  </a:lnTo>
                  <a:lnTo>
                    <a:pt x="0" y="5730240"/>
                  </a:lnTo>
                  <a:lnTo>
                    <a:pt x="5918200" y="5730240"/>
                  </a:lnTo>
                  <a:lnTo>
                    <a:pt x="5918200" y="0"/>
                  </a:lnTo>
                  <a:close/>
                </a:path>
              </a:pathLst>
            </a:custGeom>
            <a:solidFill>
              <a:srgbClr val="9E969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1820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918200">
                  <a:moveTo>
                    <a:pt x="431800" y="0"/>
                  </a:moveTo>
                  <a:lnTo>
                    <a:pt x="0" y="0"/>
                  </a:lnTo>
                  <a:lnTo>
                    <a:pt x="0" y="5730240"/>
                  </a:lnTo>
                  <a:lnTo>
                    <a:pt x="5918200" y="5730240"/>
                  </a:lnTo>
                  <a:lnTo>
                    <a:pt x="5918200" y="0"/>
                  </a:lnTo>
                  <a:close/>
                </a:path>
              </a:pathLst>
            </a:custGeom>
            <a:blipFill>
              <a:blip r:embed="rId2"/>
              <a:stretch>
                <a:fillRect l="-36065" t="0" r="-36065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5400000">
            <a:off x="15258547" y="-137207"/>
            <a:ext cx="834847" cy="3166660"/>
          </a:xfrm>
          <a:custGeom>
            <a:avLst/>
            <a:gdLst/>
            <a:ahLst/>
            <a:cxnLst/>
            <a:rect r="r" b="b" t="t" l="l"/>
            <a:pathLst>
              <a:path h="3166660" w="834847">
                <a:moveTo>
                  <a:pt x="0" y="0"/>
                </a:moveTo>
                <a:lnTo>
                  <a:pt x="834846" y="0"/>
                </a:lnTo>
                <a:lnTo>
                  <a:pt x="834846" y="3166660"/>
                </a:lnTo>
                <a:lnTo>
                  <a:pt x="0" y="31666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149040" y="3149530"/>
            <a:ext cx="9081080" cy="1193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7"/>
              </a:lnSpc>
            </a:pPr>
            <a:r>
              <a:rPr lang="en-US" b="true" sz="7829" spc="-305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PROBLEM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49040" y="4488669"/>
            <a:ext cx="8618647" cy="477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Large universities receive thousands of repetitive requests: password resets, transcript requests, enrollment queries, scholarship questions, etc.</a:t>
            </a:r>
          </a:p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This creates long wait times, a growing backlog, and high operating cost.</a:t>
            </a:r>
          </a:p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Objective: Reduce wait and backlog by automating routine tasks and escalating complex cases to humans with traceability and control.</a:t>
            </a:r>
          </a:p>
          <a:p>
            <a:pPr algn="l">
              <a:lnSpc>
                <a:spcPts val="425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3630" y="-608167"/>
            <a:ext cx="11147832" cy="11503335"/>
            <a:chOff x="0" y="0"/>
            <a:chExt cx="3246506" cy="33500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46506" cy="3350036"/>
            </a:xfrm>
            <a:custGeom>
              <a:avLst/>
              <a:gdLst/>
              <a:ahLst/>
              <a:cxnLst/>
              <a:rect r="r" b="b" t="t" l="l"/>
              <a:pathLst>
                <a:path h="3350036" w="3246506">
                  <a:moveTo>
                    <a:pt x="0" y="0"/>
                  </a:moveTo>
                  <a:lnTo>
                    <a:pt x="3246506" y="0"/>
                  </a:lnTo>
                  <a:lnTo>
                    <a:pt x="3246506" y="3350036"/>
                  </a:lnTo>
                  <a:lnTo>
                    <a:pt x="0" y="33500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246506" cy="3407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0932605" y="2132118"/>
            <a:ext cx="6206476" cy="6022764"/>
            <a:chOff x="0" y="0"/>
            <a:chExt cx="6350000" cy="6162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31800" y="431800"/>
              <a:ext cx="591820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918200">
                  <a:moveTo>
                    <a:pt x="5486400" y="0"/>
                  </a:moveTo>
                  <a:lnTo>
                    <a:pt x="5486400" y="5298440"/>
                  </a:lnTo>
                  <a:lnTo>
                    <a:pt x="0" y="5298440"/>
                  </a:lnTo>
                  <a:lnTo>
                    <a:pt x="0" y="5730240"/>
                  </a:lnTo>
                  <a:lnTo>
                    <a:pt x="5918200" y="5730240"/>
                  </a:lnTo>
                  <a:lnTo>
                    <a:pt x="5918200" y="0"/>
                  </a:lnTo>
                  <a:close/>
                </a:path>
              </a:pathLst>
            </a:custGeom>
            <a:solidFill>
              <a:srgbClr val="9E969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1820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918200">
                  <a:moveTo>
                    <a:pt x="431800" y="0"/>
                  </a:moveTo>
                  <a:lnTo>
                    <a:pt x="0" y="0"/>
                  </a:lnTo>
                  <a:lnTo>
                    <a:pt x="0" y="5730240"/>
                  </a:lnTo>
                  <a:lnTo>
                    <a:pt x="5918200" y="5730240"/>
                  </a:lnTo>
                  <a:lnTo>
                    <a:pt x="5918200" y="0"/>
                  </a:lnTo>
                  <a:close/>
                </a:path>
              </a:pathLst>
            </a:custGeom>
            <a:blipFill>
              <a:blip r:embed="rId2"/>
              <a:stretch>
                <a:fillRect l="-36065" t="0" r="-36065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0" y="1723749"/>
            <a:ext cx="9626706" cy="6906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Human (institutional / market average): First response time can range from hours to several hours depending on load and channel; market examples show dramatic reductions when using AI.</a:t>
            </a:r>
          </a:p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Our automation (goal / prototype):</a:t>
            </a:r>
          </a:p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Initial automatic response: &lt; 1 minute (instant bot reply).</a:t>
            </a:r>
          </a:p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Automatic resolution of routine tasks: &lt; 15 minutes (depends on system integrations).</a:t>
            </a:r>
          </a:p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Cases escalated to a human: average human resolution time 4–48 hours (depends on approvals and processes).</a:t>
            </a:r>
          </a:p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Target self-resolution rate: 50–70% of routine inquiries handled automatically.</a:t>
            </a:r>
          </a:p>
          <a:p>
            <a:pPr algn="l">
              <a:lnSpc>
                <a:spcPts val="4254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5250" y="8630225"/>
            <a:ext cx="2816747" cy="1541529"/>
          </a:xfrm>
          <a:custGeom>
            <a:avLst/>
            <a:gdLst/>
            <a:ahLst/>
            <a:cxnLst/>
            <a:rect r="r" b="b" t="t" l="l"/>
            <a:pathLst>
              <a:path h="1541529" w="2816747">
                <a:moveTo>
                  <a:pt x="0" y="0"/>
                </a:moveTo>
                <a:lnTo>
                  <a:pt x="2816747" y="0"/>
                </a:lnTo>
                <a:lnTo>
                  <a:pt x="2816747" y="1541529"/>
                </a:lnTo>
                <a:lnTo>
                  <a:pt x="0" y="1541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382070" y="104771"/>
            <a:ext cx="2816747" cy="1541529"/>
          </a:xfrm>
          <a:custGeom>
            <a:avLst/>
            <a:gdLst/>
            <a:ahLst/>
            <a:cxnLst/>
            <a:rect r="r" b="b" t="t" l="l"/>
            <a:pathLst>
              <a:path h="1541529" w="2816747">
                <a:moveTo>
                  <a:pt x="0" y="0"/>
                </a:moveTo>
                <a:lnTo>
                  <a:pt x="2816747" y="0"/>
                </a:lnTo>
                <a:lnTo>
                  <a:pt x="2816747" y="1541529"/>
                </a:lnTo>
                <a:lnTo>
                  <a:pt x="0" y="15415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48124" y="104771"/>
            <a:ext cx="7933246" cy="117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9"/>
              </a:lnSpc>
            </a:pPr>
            <a:r>
              <a:rPr lang="en-US" b="true" sz="3999" spc="-155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WAIT TIME: HUMANS VS OUR AUTOMATION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3630" y="-608167"/>
            <a:ext cx="10245332" cy="11503335"/>
            <a:chOff x="0" y="0"/>
            <a:chExt cx="2983677" cy="33500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83677" cy="3350036"/>
            </a:xfrm>
            <a:custGeom>
              <a:avLst/>
              <a:gdLst/>
              <a:ahLst/>
              <a:cxnLst/>
              <a:rect r="r" b="b" t="t" l="l"/>
              <a:pathLst>
                <a:path h="3350036" w="2983677">
                  <a:moveTo>
                    <a:pt x="0" y="0"/>
                  </a:moveTo>
                  <a:lnTo>
                    <a:pt x="2983677" y="0"/>
                  </a:lnTo>
                  <a:lnTo>
                    <a:pt x="2983677" y="3350036"/>
                  </a:lnTo>
                  <a:lnTo>
                    <a:pt x="0" y="33500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983677" cy="3407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81149" y="2217694"/>
            <a:ext cx="7308382" cy="5393920"/>
          </a:xfrm>
          <a:custGeom>
            <a:avLst/>
            <a:gdLst/>
            <a:ahLst/>
            <a:cxnLst/>
            <a:rect r="r" b="b" t="t" l="l"/>
            <a:pathLst>
              <a:path h="5393920" w="7308382">
                <a:moveTo>
                  <a:pt x="0" y="0"/>
                </a:moveTo>
                <a:lnTo>
                  <a:pt x="7308381" y="0"/>
                </a:lnTo>
                <a:lnTo>
                  <a:pt x="7308381" y="5393920"/>
                </a:lnTo>
                <a:lnTo>
                  <a:pt x="0" y="5393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71357" y="572594"/>
            <a:ext cx="7371306" cy="117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9"/>
              </a:lnSpc>
            </a:pPr>
            <a:r>
              <a:rPr lang="en-US" b="true" sz="3999" spc="-155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EVIDENCE: WHY BOTS IMPROVE OPERATIONS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1357" y="2717978"/>
            <a:ext cx="7056619" cy="530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Studies and case reports show significant reductions in first response time and resolution time when chatbots/AI are used </a:t>
            </a:r>
          </a:p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Practical examples: improvements from 6 hours to 70 minutes average response time after adopting AI in some processes. </a:t>
            </a:r>
          </a:p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Measurable benefits: lower operating costs, increased capacity during peaks, improved CSAT.</a:t>
            </a:r>
          </a:p>
          <a:p>
            <a:pPr algn="l">
              <a:lnSpc>
                <a:spcPts val="425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625117" y="1694004"/>
            <a:ext cx="6420445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The top benefits support teams see from using AI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51198" y="-613317"/>
            <a:ext cx="11788939" cy="11846363"/>
            <a:chOff x="0" y="0"/>
            <a:chExt cx="3433211" cy="34499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3211" cy="3449934"/>
            </a:xfrm>
            <a:custGeom>
              <a:avLst/>
              <a:gdLst/>
              <a:ahLst/>
              <a:cxnLst/>
              <a:rect r="r" b="b" t="t" l="l"/>
              <a:pathLst>
                <a:path h="3449934" w="3433211">
                  <a:moveTo>
                    <a:pt x="0" y="0"/>
                  </a:moveTo>
                  <a:lnTo>
                    <a:pt x="3433211" y="0"/>
                  </a:lnTo>
                  <a:lnTo>
                    <a:pt x="3433211" y="3449934"/>
                  </a:lnTo>
                  <a:lnTo>
                    <a:pt x="0" y="344993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433211" cy="3507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202726"/>
            <a:ext cx="14274748" cy="130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7"/>
              </a:lnSpc>
            </a:pPr>
            <a:r>
              <a:rPr lang="en-US" b="true" sz="8564" spc="-334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ARCHITECTURE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900830" y="2888367"/>
            <a:ext cx="5740426" cy="1950828"/>
            <a:chOff x="0" y="0"/>
            <a:chExt cx="1877003" cy="6378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77003" cy="637881"/>
            </a:xfrm>
            <a:custGeom>
              <a:avLst/>
              <a:gdLst/>
              <a:ahLst/>
              <a:cxnLst/>
              <a:rect r="r" b="b" t="t" l="l"/>
              <a:pathLst>
                <a:path h="637881" w="1877003">
                  <a:moveTo>
                    <a:pt x="0" y="0"/>
                  </a:moveTo>
                  <a:lnTo>
                    <a:pt x="1877003" y="0"/>
                  </a:lnTo>
                  <a:lnTo>
                    <a:pt x="1877003" y="637881"/>
                  </a:lnTo>
                  <a:lnTo>
                    <a:pt x="0" y="6378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877003" cy="695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289323"/>
            <a:ext cx="1165016" cy="1148915"/>
            <a:chOff x="0" y="0"/>
            <a:chExt cx="436225" cy="4301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6225" cy="430196"/>
            </a:xfrm>
            <a:custGeom>
              <a:avLst/>
              <a:gdLst/>
              <a:ahLst/>
              <a:cxnLst/>
              <a:rect r="r" b="b" t="t" l="l"/>
              <a:pathLst>
                <a:path h="430196" w="436225">
                  <a:moveTo>
                    <a:pt x="0" y="0"/>
                  </a:moveTo>
                  <a:lnTo>
                    <a:pt x="436225" y="0"/>
                  </a:lnTo>
                  <a:lnTo>
                    <a:pt x="436225" y="430196"/>
                  </a:lnTo>
                  <a:lnTo>
                    <a:pt x="0" y="43019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36225" cy="487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21586" y="3451631"/>
            <a:ext cx="579244" cy="9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1"/>
              </a:lnSpc>
            </a:pPr>
            <a:r>
              <a:rPr lang="en-US" b="true" sz="6089" spc="-237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49532" y="3155973"/>
            <a:ext cx="4638322" cy="140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105" spc="-82" b="true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Channels: Web chat, phone (Speech SDK + Azure Communication Services)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900830" y="5099469"/>
            <a:ext cx="5740426" cy="1950828"/>
            <a:chOff x="0" y="0"/>
            <a:chExt cx="1877003" cy="6378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77003" cy="637881"/>
            </a:xfrm>
            <a:custGeom>
              <a:avLst/>
              <a:gdLst/>
              <a:ahLst/>
              <a:cxnLst/>
              <a:rect r="r" b="b" t="t" l="l"/>
              <a:pathLst>
                <a:path h="637881" w="1877003">
                  <a:moveTo>
                    <a:pt x="0" y="0"/>
                  </a:moveTo>
                  <a:lnTo>
                    <a:pt x="1877003" y="0"/>
                  </a:lnTo>
                  <a:lnTo>
                    <a:pt x="1877003" y="637881"/>
                  </a:lnTo>
                  <a:lnTo>
                    <a:pt x="0" y="6378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877003" cy="695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5500425"/>
            <a:ext cx="1165016" cy="1148915"/>
            <a:chOff x="0" y="0"/>
            <a:chExt cx="436225" cy="4301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6225" cy="430196"/>
            </a:xfrm>
            <a:custGeom>
              <a:avLst/>
              <a:gdLst/>
              <a:ahLst/>
              <a:cxnLst/>
              <a:rect r="r" b="b" t="t" l="l"/>
              <a:pathLst>
                <a:path h="430196" w="436225">
                  <a:moveTo>
                    <a:pt x="0" y="0"/>
                  </a:moveTo>
                  <a:lnTo>
                    <a:pt x="436225" y="0"/>
                  </a:lnTo>
                  <a:lnTo>
                    <a:pt x="436225" y="430196"/>
                  </a:lnTo>
                  <a:lnTo>
                    <a:pt x="0" y="43019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36225" cy="487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21586" y="5662733"/>
            <a:ext cx="579244" cy="9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1"/>
              </a:lnSpc>
            </a:pPr>
            <a:r>
              <a:rPr lang="en-US" b="true" sz="6089" spc="-237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49532" y="5545496"/>
            <a:ext cx="4638322" cy="140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105" spc="-82" b="true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Coordinator / Orchestrator: Classifies, extracts entities, routes to the right agent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900830" y="7307472"/>
            <a:ext cx="5740426" cy="1950828"/>
            <a:chOff x="0" y="0"/>
            <a:chExt cx="1877003" cy="6378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77003" cy="637881"/>
            </a:xfrm>
            <a:custGeom>
              <a:avLst/>
              <a:gdLst/>
              <a:ahLst/>
              <a:cxnLst/>
              <a:rect r="r" b="b" t="t" l="l"/>
              <a:pathLst>
                <a:path h="637881" w="1877003">
                  <a:moveTo>
                    <a:pt x="0" y="0"/>
                  </a:moveTo>
                  <a:lnTo>
                    <a:pt x="1877003" y="0"/>
                  </a:lnTo>
                  <a:lnTo>
                    <a:pt x="1877003" y="637881"/>
                  </a:lnTo>
                  <a:lnTo>
                    <a:pt x="0" y="6378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877003" cy="695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7708428"/>
            <a:ext cx="1165016" cy="1148915"/>
            <a:chOff x="0" y="0"/>
            <a:chExt cx="436225" cy="4301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6225" cy="430196"/>
            </a:xfrm>
            <a:custGeom>
              <a:avLst/>
              <a:gdLst/>
              <a:ahLst/>
              <a:cxnLst/>
              <a:rect r="r" b="b" t="t" l="l"/>
              <a:pathLst>
                <a:path h="430196" w="436225">
                  <a:moveTo>
                    <a:pt x="0" y="0"/>
                  </a:moveTo>
                  <a:lnTo>
                    <a:pt x="436225" y="0"/>
                  </a:lnTo>
                  <a:lnTo>
                    <a:pt x="436225" y="430196"/>
                  </a:lnTo>
                  <a:lnTo>
                    <a:pt x="0" y="43019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436225" cy="487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321586" y="7870736"/>
            <a:ext cx="579244" cy="9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1"/>
              </a:lnSpc>
            </a:pPr>
            <a:r>
              <a:rPr lang="en-US" b="true" sz="6089" spc="-237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649532" y="7325548"/>
            <a:ext cx="4638322" cy="1877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105" spc="-82" b="true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Specialized agents: IT Support, Student Services, Administrative, VoiceRAG, Runbook Agents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563022" y="2888367"/>
            <a:ext cx="5740426" cy="1950828"/>
            <a:chOff x="0" y="0"/>
            <a:chExt cx="1877003" cy="63788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77003" cy="637881"/>
            </a:xfrm>
            <a:custGeom>
              <a:avLst/>
              <a:gdLst/>
              <a:ahLst/>
              <a:cxnLst/>
              <a:rect r="r" b="b" t="t" l="l"/>
              <a:pathLst>
                <a:path h="637881" w="1877003">
                  <a:moveTo>
                    <a:pt x="0" y="0"/>
                  </a:moveTo>
                  <a:lnTo>
                    <a:pt x="1877003" y="0"/>
                  </a:lnTo>
                  <a:lnTo>
                    <a:pt x="1877003" y="637881"/>
                  </a:lnTo>
                  <a:lnTo>
                    <a:pt x="0" y="6378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877003" cy="695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690892" y="3289323"/>
            <a:ext cx="1165016" cy="1148915"/>
            <a:chOff x="0" y="0"/>
            <a:chExt cx="436225" cy="4301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6225" cy="430196"/>
            </a:xfrm>
            <a:custGeom>
              <a:avLst/>
              <a:gdLst/>
              <a:ahLst/>
              <a:cxnLst/>
              <a:rect r="r" b="b" t="t" l="l"/>
              <a:pathLst>
                <a:path h="430196" w="436225">
                  <a:moveTo>
                    <a:pt x="0" y="0"/>
                  </a:moveTo>
                  <a:lnTo>
                    <a:pt x="436225" y="0"/>
                  </a:lnTo>
                  <a:lnTo>
                    <a:pt x="436225" y="430196"/>
                  </a:lnTo>
                  <a:lnTo>
                    <a:pt x="0" y="43019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436225" cy="487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8983778" y="3451631"/>
            <a:ext cx="579244" cy="9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1"/>
              </a:lnSpc>
            </a:pPr>
            <a:r>
              <a:rPr lang="en-US" b="true" sz="6089" spc="-237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58714" y="2906443"/>
            <a:ext cx="4744343" cy="1877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105" spc="-82" b="true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RAG pipeline: Landing Data Lake → chunking → embeddings → Azure AI Search → traceable answers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563022" y="5099469"/>
            <a:ext cx="5740426" cy="1950828"/>
            <a:chOff x="0" y="0"/>
            <a:chExt cx="1877003" cy="63788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77003" cy="637881"/>
            </a:xfrm>
            <a:custGeom>
              <a:avLst/>
              <a:gdLst/>
              <a:ahLst/>
              <a:cxnLst/>
              <a:rect r="r" b="b" t="t" l="l"/>
              <a:pathLst>
                <a:path h="637881" w="1877003">
                  <a:moveTo>
                    <a:pt x="0" y="0"/>
                  </a:moveTo>
                  <a:lnTo>
                    <a:pt x="1877003" y="0"/>
                  </a:lnTo>
                  <a:lnTo>
                    <a:pt x="1877003" y="637881"/>
                  </a:lnTo>
                  <a:lnTo>
                    <a:pt x="0" y="6378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877003" cy="695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690892" y="5500425"/>
            <a:ext cx="1165016" cy="1148915"/>
            <a:chOff x="0" y="0"/>
            <a:chExt cx="436225" cy="4301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6225" cy="430196"/>
            </a:xfrm>
            <a:custGeom>
              <a:avLst/>
              <a:gdLst/>
              <a:ahLst/>
              <a:cxnLst/>
              <a:rect r="r" b="b" t="t" l="l"/>
              <a:pathLst>
                <a:path h="430196" w="436225">
                  <a:moveTo>
                    <a:pt x="0" y="0"/>
                  </a:moveTo>
                  <a:lnTo>
                    <a:pt x="436225" y="0"/>
                  </a:lnTo>
                  <a:lnTo>
                    <a:pt x="436225" y="430196"/>
                  </a:lnTo>
                  <a:lnTo>
                    <a:pt x="0" y="43019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436225" cy="487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8983778" y="5662733"/>
            <a:ext cx="579244" cy="9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1"/>
              </a:lnSpc>
            </a:pPr>
            <a:r>
              <a:rPr lang="en-US" b="true" sz="6089" spc="-237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152693" y="5355670"/>
            <a:ext cx="4744343" cy="140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105" spc="-82" b="true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Secure execution: Runbooks on PSI / Azure VMs, credentials in Azure Key Vault.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563022" y="7307472"/>
            <a:ext cx="5740426" cy="1950828"/>
            <a:chOff x="0" y="0"/>
            <a:chExt cx="1877003" cy="63788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77003" cy="637881"/>
            </a:xfrm>
            <a:custGeom>
              <a:avLst/>
              <a:gdLst/>
              <a:ahLst/>
              <a:cxnLst/>
              <a:rect r="r" b="b" t="t" l="l"/>
              <a:pathLst>
                <a:path h="637881" w="1877003">
                  <a:moveTo>
                    <a:pt x="0" y="0"/>
                  </a:moveTo>
                  <a:lnTo>
                    <a:pt x="1877003" y="0"/>
                  </a:lnTo>
                  <a:lnTo>
                    <a:pt x="1877003" y="637881"/>
                  </a:lnTo>
                  <a:lnTo>
                    <a:pt x="0" y="6378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1877003" cy="695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690892" y="7708428"/>
            <a:ext cx="1165016" cy="1148915"/>
            <a:chOff x="0" y="0"/>
            <a:chExt cx="436225" cy="4301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36225" cy="430196"/>
            </a:xfrm>
            <a:custGeom>
              <a:avLst/>
              <a:gdLst/>
              <a:ahLst/>
              <a:cxnLst/>
              <a:rect r="r" b="b" t="t" l="l"/>
              <a:pathLst>
                <a:path h="430196" w="436225">
                  <a:moveTo>
                    <a:pt x="0" y="0"/>
                  </a:moveTo>
                  <a:lnTo>
                    <a:pt x="436225" y="0"/>
                  </a:lnTo>
                  <a:lnTo>
                    <a:pt x="436225" y="430196"/>
                  </a:lnTo>
                  <a:lnTo>
                    <a:pt x="0" y="43019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436225" cy="487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8983778" y="7870736"/>
            <a:ext cx="579244" cy="9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1"/>
              </a:lnSpc>
            </a:pPr>
            <a:r>
              <a:rPr lang="en-US" b="true" sz="6089" spc="-237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6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258714" y="7575078"/>
            <a:ext cx="4638322" cy="140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105" spc="-82" b="true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Secure execution:  logs to Application Insights / Azure Monitor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81192" y="-824694"/>
            <a:ext cx="22159865" cy="1226633"/>
            <a:chOff x="0" y="0"/>
            <a:chExt cx="6453464" cy="3572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3464" cy="357224"/>
            </a:xfrm>
            <a:custGeom>
              <a:avLst/>
              <a:gdLst/>
              <a:ahLst/>
              <a:cxnLst/>
              <a:rect r="r" b="b" t="t" l="l"/>
              <a:pathLst>
                <a:path h="357224" w="6453464">
                  <a:moveTo>
                    <a:pt x="0" y="0"/>
                  </a:moveTo>
                  <a:lnTo>
                    <a:pt x="6453464" y="0"/>
                  </a:lnTo>
                  <a:lnTo>
                    <a:pt x="6453464" y="357224"/>
                  </a:lnTo>
                  <a:lnTo>
                    <a:pt x="0" y="35722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453464" cy="414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935932" y="9873431"/>
            <a:ext cx="22159865" cy="1226633"/>
            <a:chOff x="0" y="0"/>
            <a:chExt cx="6453464" cy="3572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53464" cy="357224"/>
            </a:xfrm>
            <a:custGeom>
              <a:avLst/>
              <a:gdLst/>
              <a:ahLst/>
              <a:cxnLst/>
              <a:rect r="r" b="b" t="t" l="l"/>
              <a:pathLst>
                <a:path h="357224" w="6453464">
                  <a:moveTo>
                    <a:pt x="0" y="0"/>
                  </a:moveTo>
                  <a:lnTo>
                    <a:pt x="6453464" y="0"/>
                  </a:lnTo>
                  <a:lnTo>
                    <a:pt x="6453464" y="357224"/>
                  </a:lnTo>
                  <a:lnTo>
                    <a:pt x="0" y="35722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453464" cy="414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515211"/>
            <a:ext cx="14274748" cy="206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09"/>
              </a:lnSpc>
            </a:pPr>
            <a:r>
              <a:rPr lang="en-US" b="true" sz="6999" spc="-272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CONCURRENCY AND SCALABILITY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4308156"/>
            <a:ext cx="7697783" cy="2322546"/>
            <a:chOff x="0" y="0"/>
            <a:chExt cx="1864678" cy="5626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4678" cy="562604"/>
            </a:xfrm>
            <a:custGeom>
              <a:avLst/>
              <a:gdLst/>
              <a:ahLst/>
              <a:cxnLst/>
              <a:rect r="r" b="b" t="t" l="l"/>
              <a:pathLst>
                <a:path h="562604" w="1864678">
                  <a:moveTo>
                    <a:pt x="0" y="0"/>
                  </a:moveTo>
                  <a:lnTo>
                    <a:pt x="1864678" y="0"/>
                  </a:lnTo>
                  <a:lnTo>
                    <a:pt x="1864678" y="562604"/>
                  </a:lnTo>
                  <a:lnTo>
                    <a:pt x="0" y="5626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864678" cy="619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27182" y="4522635"/>
            <a:ext cx="5473498" cy="1956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</a:pPr>
            <a:r>
              <a:rPr lang="en-US" sz="2196" spc="-85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Each ag</a:t>
            </a:r>
            <a:r>
              <a:rPr lang="en-US" sz="2196" spc="-85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ent runs in an individual container (pod/container) → can be scaled horizontally per agent based on demand.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61517" y="4486833"/>
            <a:ext cx="7697783" cy="1966829"/>
            <a:chOff x="0" y="0"/>
            <a:chExt cx="1864678" cy="4764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64678" cy="476436"/>
            </a:xfrm>
            <a:custGeom>
              <a:avLst/>
              <a:gdLst/>
              <a:ahLst/>
              <a:cxnLst/>
              <a:rect r="r" b="b" t="t" l="l"/>
              <a:pathLst>
                <a:path h="476436" w="1864678">
                  <a:moveTo>
                    <a:pt x="0" y="0"/>
                  </a:moveTo>
                  <a:lnTo>
                    <a:pt x="1864678" y="0"/>
                  </a:lnTo>
                  <a:lnTo>
                    <a:pt x="1864678" y="476436"/>
                  </a:lnTo>
                  <a:lnTo>
                    <a:pt x="0" y="4764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864678" cy="533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782802" y="4668128"/>
            <a:ext cx="7255212" cy="146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</a:pPr>
            <a:r>
              <a:rPr lang="en-US" sz="2196" spc="-85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The Coordinator consumes messages at a controlled rate; agents consume from their own queues / work queues and scale independently.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615791"/>
            <a:ext cx="16230600" cy="505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How we handle concurrency and why it’s scalable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8700" y="7276104"/>
            <a:ext cx="7697783" cy="1966829"/>
            <a:chOff x="0" y="0"/>
            <a:chExt cx="1864678" cy="4764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64678" cy="476436"/>
            </a:xfrm>
            <a:custGeom>
              <a:avLst/>
              <a:gdLst/>
              <a:ahLst/>
              <a:cxnLst/>
              <a:rect r="r" b="b" t="t" l="l"/>
              <a:pathLst>
                <a:path h="476436" w="1864678">
                  <a:moveTo>
                    <a:pt x="0" y="0"/>
                  </a:moveTo>
                  <a:lnTo>
                    <a:pt x="1864678" y="0"/>
                  </a:lnTo>
                  <a:lnTo>
                    <a:pt x="1864678" y="476436"/>
                  </a:lnTo>
                  <a:lnTo>
                    <a:pt x="0" y="4764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864678" cy="533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68878" y="7133229"/>
            <a:ext cx="6797196" cy="1956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</a:pPr>
            <a:r>
              <a:rPr lang="en-US" sz="2196" spc="-85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Azure Service Bus acts as a decoupling buffer: when thousands of tickets arrive simultaneously, messages queue and protect the Coordinator Agent from overload.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561517" y="7276104"/>
            <a:ext cx="7697783" cy="1966829"/>
            <a:chOff x="0" y="0"/>
            <a:chExt cx="1864678" cy="4764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64678" cy="476436"/>
            </a:xfrm>
            <a:custGeom>
              <a:avLst/>
              <a:gdLst/>
              <a:ahLst/>
              <a:cxnLst/>
              <a:rect r="r" b="b" t="t" l="l"/>
              <a:pathLst>
                <a:path h="476436" w="1864678">
                  <a:moveTo>
                    <a:pt x="0" y="0"/>
                  </a:moveTo>
                  <a:lnTo>
                    <a:pt x="1864678" y="0"/>
                  </a:lnTo>
                  <a:lnTo>
                    <a:pt x="1864678" y="476436"/>
                  </a:lnTo>
                  <a:lnTo>
                    <a:pt x="0" y="4764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864678" cy="533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032788" y="7380879"/>
            <a:ext cx="4755241" cy="146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</a:pPr>
            <a:r>
              <a:rPr lang="en-US" sz="2196" spc="-85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Idempotent architecture and transactional runbook design prevent adverse effects on retries.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51198" y="-613317"/>
            <a:ext cx="11788939" cy="11846363"/>
            <a:chOff x="0" y="0"/>
            <a:chExt cx="3433211" cy="34499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3211" cy="3449934"/>
            </a:xfrm>
            <a:custGeom>
              <a:avLst/>
              <a:gdLst/>
              <a:ahLst/>
              <a:cxnLst/>
              <a:rect r="r" b="b" t="t" l="l"/>
              <a:pathLst>
                <a:path h="3449934" w="3433211">
                  <a:moveTo>
                    <a:pt x="0" y="0"/>
                  </a:moveTo>
                  <a:lnTo>
                    <a:pt x="3433211" y="0"/>
                  </a:lnTo>
                  <a:lnTo>
                    <a:pt x="3433211" y="3449934"/>
                  </a:lnTo>
                  <a:lnTo>
                    <a:pt x="0" y="344993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433211" cy="3507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546434"/>
            <a:ext cx="14904990" cy="8551738"/>
          </a:xfrm>
          <a:custGeom>
            <a:avLst/>
            <a:gdLst/>
            <a:ahLst/>
            <a:cxnLst/>
            <a:rect r="r" b="b" t="t" l="l"/>
            <a:pathLst>
              <a:path h="8551738" w="14904990">
                <a:moveTo>
                  <a:pt x="0" y="0"/>
                </a:moveTo>
                <a:lnTo>
                  <a:pt x="14904990" y="0"/>
                </a:lnTo>
                <a:lnTo>
                  <a:pt x="14904990" y="8551738"/>
                </a:lnTo>
                <a:lnTo>
                  <a:pt x="0" y="855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6970" y="241573"/>
            <a:ext cx="14274748" cy="130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7"/>
              </a:lnSpc>
            </a:pPr>
            <a:r>
              <a:rPr lang="en-US" b="true" sz="8564" spc="-334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ARCHITECTURE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81192" y="-824694"/>
            <a:ext cx="22159865" cy="4643228"/>
            <a:chOff x="0" y="0"/>
            <a:chExt cx="6453464" cy="1352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3464" cy="1352215"/>
            </a:xfrm>
            <a:custGeom>
              <a:avLst/>
              <a:gdLst/>
              <a:ahLst/>
              <a:cxnLst/>
              <a:rect r="r" b="b" t="t" l="l"/>
              <a:pathLst>
                <a:path h="1352215" w="6453464">
                  <a:moveTo>
                    <a:pt x="0" y="0"/>
                  </a:moveTo>
                  <a:lnTo>
                    <a:pt x="6453464" y="0"/>
                  </a:lnTo>
                  <a:lnTo>
                    <a:pt x="6453464" y="1352215"/>
                  </a:lnTo>
                  <a:lnTo>
                    <a:pt x="0" y="135221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453464" cy="140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51104" y="4944784"/>
            <a:ext cx="12213587" cy="814390"/>
            <a:chOff x="0" y="0"/>
            <a:chExt cx="2654752" cy="1770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54752" cy="177016"/>
            </a:xfrm>
            <a:custGeom>
              <a:avLst/>
              <a:gdLst/>
              <a:ahLst/>
              <a:cxnLst/>
              <a:rect r="r" b="b" t="t" l="l"/>
              <a:pathLst>
                <a:path h="177016" w="2654752">
                  <a:moveTo>
                    <a:pt x="0" y="0"/>
                  </a:moveTo>
                  <a:lnTo>
                    <a:pt x="2654752" y="0"/>
                  </a:lnTo>
                  <a:lnTo>
                    <a:pt x="2654752" y="177016"/>
                  </a:lnTo>
                  <a:lnTo>
                    <a:pt x="0" y="177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654752" cy="234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64176" y="5078230"/>
            <a:ext cx="573856" cy="547498"/>
            <a:chOff x="0" y="0"/>
            <a:chExt cx="142837" cy="1362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837" cy="136276"/>
            </a:xfrm>
            <a:custGeom>
              <a:avLst/>
              <a:gdLst/>
              <a:ahLst/>
              <a:cxnLst/>
              <a:rect r="r" b="b" t="t" l="l"/>
              <a:pathLst>
                <a:path h="136276" w="142837">
                  <a:moveTo>
                    <a:pt x="0" y="0"/>
                  </a:moveTo>
                  <a:lnTo>
                    <a:pt x="142837" y="0"/>
                  </a:lnTo>
                  <a:lnTo>
                    <a:pt x="142837" y="136276"/>
                  </a:lnTo>
                  <a:lnTo>
                    <a:pt x="0" y="13627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42837" cy="193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967734" y="5196615"/>
            <a:ext cx="366740" cy="310728"/>
          </a:xfrm>
          <a:custGeom>
            <a:avLst/>
            <a:gdLst/>
            <a:ahLst/>
            <a:cxnLst/>
            <a:rect r="r" b="b" t="t" l="l"/>
            <a:pathLst>
              <a:path h="310728" w="366740">
                <a:moveTo>
                  <a:pt x="0" y="0"/>
                </a:moveTo>
                <a:lnTo>
                  <a:pt x="366739" y="0"/>
                </a:lnTo>
                <a:lnTo>
                  <a:pt x="366739" y="310728"/>
                </a:lnTo>
                <a:lnTo>
                  <a:pt x="0" y="310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151104" y="6112003"/>
            <a:ext cx="12213587" cy="814390"/>
            <a:chOff x="0" y="0"/>
            <a:chExt cx="2654752" cy="1770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54752" cy="177016"/>
            </a:xfrm>
            <a:custGeom>
              <a:avLst/>
              <a:gdLst/>
              <a:ahLst/>
              <a:cxnLst/>
              <a:rect r="r" b="b" t="t" l="l"/>
              <a:pathLst>
                <a:path h="177016" w="2654752">
                  <a:moveTo>
                    <a:pt x="0" y="0"/>
                  </a:moveTo>
                  <a:lnTo>
                    <a:pt x="2654752" y="0"/>
                  </a:lnTo>
                  <a:lnTo>
                    <a:pt x="2654752" y="177016"/>
                  </a:lnTo>
                  <a:lnTo>
                    <a:pt x="0" y="177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654752" cy="234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64176" y="6245450"/>
            <a:ext cx="573856" cy="547498"/>
            <a:chOff x="0" y="0"/>
            <a:chExt cx="142837" cy="1362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2837" cy="136276"/>
            </a:xfrm>
            <a:custGeom>
              <a:avLst/>
              <a:gdLst/>
              <a:ahLst/>
              <a:cxnLst/>
              <a:rect r="r" b="b" t="t" l="l"/>
              <a:pathLst>
                <a:path h="136276" w="142837">
                  <a:moveTo>
                    <a:pt x="0" y="0"/>
                  </a:moveTo>
                  <a:lnTo>
                    <a:pt x="142837" y="0"/>
                  </a:lnTo>
                  <a:lnTo>
                    <a:pt x="142837" y="136276"/>
                  </a:lnTo>
                  <a:lnTo>
                    <a:pt x="0" y="13627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42837" cy="193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967734" y="6363834"/>
            <a:ext cx="366740" cy="310728"/>
          </a:xfrm>
          <a:custGeom>
            <a:avLst/>
            <a:gdLst/>
            <a:ahLst/>
            <a:cxnLst/>
            <a:rect r="r" b="b" t="t" l="l"/>
            <a:pathLst>
              <a:path h="310728" w="366740">
                <a:moveTo>
                  <a:pt x="0" y="0"/>
                </a:moveTo>
                <a:lnTo>
                  <a:pt x="366739" y="0"/>
                </a:lnTo>
                <a:lnTo>
                  <a:pt x="366739" y="310729"/>
                </a:lnTo>
                <a:lnTo>
                  <a:pt x="0" y="3107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4151104" y="7276691"/>
            <a:ext cx="12213587" cy="814390"/>
            <a:chOff x="0" y="0"/>
            <a:chExt cx="2654752" cy="1770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54752" cy="177016"/>
            </a:xfrm>
            <a:custGeom>
              <a:avLst/>
              <a:gdLst/>
              <a:ahLst/>
              <a:cxnLst/>
              <a:rect r="r" b="b" t="t" l="l"/>
              <a:pathLst>
                <a:path h="177016" w="2654752">
                  <a:moveTo>
                    <a:pt x="0" y="0"/>
                  </a:moveTo>
                  <a:lnTo>
                    <a:pt x="2654752" y="0"/>
                  </a:lnTo>
                  <a:lnTo>
                    <a:pt x="2654752" y="177016"/>
                  </a:lnTo>
                  <a:lnTo>
                    <a:pt x="0" y="177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654752" cy="234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864176" y="7410137"/>
            <a:ext cx="573856" cy="547498"/>
            <a:chOff x="0" y="0"/>
            <a:chExt cx="142837" cy="13627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2837" cy="136276"/>
            </a:xfrm>
            <a:custGeom>
              <a:avLst/>
              <a:gdLst/>
              <a:ahLst/>
              <a:cxnLst/>
              <a:rect r="r" b="b" t="t" l="l"/>
              <a:pathLst>
                <a:path h="136276" w="142837">
                  <a:moveTo>
                    <a:pt x="0" y="0"/>
                  </a:moveTo>
                  <a:lnTo>
                    <a:pt x="142837" y="0"/>
                  </a:lnTo>
                  <a:lnTo>
                    <a:pt x="142837" y="136276"/>
                  </a:lnTo>
                  <a:lnTo>
                    <a:pt x="0" y="13627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42837" cy="193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967734" y="7528521"/>
            <a:ext cx="366740" cy="310728"/>
          </a:xfrm>
          <a:custGeom>
            <a:avLst/>
            <a:gdLst/>
            <a:ahLst/>
            <a:cxnLst/>
            <a:rect r="r" b="b" t="t" l="l"/>
            <a:pathLst>
              <a:path h="310728" w="366740">
                <a:moveTo>
                  <a:pt x="0" y="0"/>
                </a:moveTo>
                <a:lnTo>
                  <a:pt x="366739" y="0"/>
                </a:lnTo>
                <a:lnTo>
                  <a:pt x="366739" y="310729"/>
                </a:lnTo>
                <a:lnTo>
                  <a:pt x="0" y="3107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4151104" y="8443910"/>
            <a:ext cx="12213587" cy="814390"/>
            <a:chOff x="0" y="0"/>
            <a:chExt cx="2654752" cy="1770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54752" cy="177016"/>
            </a:xfrm>
            <a:custGeom>
              <a:avLst/>
              <a:gdLst/>
              <a:ahLst/>
              <a:cxnLst/>
              <a:rect r="r" b="b" t="t" l="l"/>
              <a:pathLst>
                <a:path h="177016" w="2654752">
                  <a:moveTo>
                    <a:pt x="0" y="0"/>
                  </a:moveTo>
                  <a:lnTo>
                    <a:pt x="2654752" y="0"/>
                  </a:lnTo>
                  <a:lnTo>
                    <a:pt x="2654752" y="177016"/>
                  </a:lnTo>
                  <a:lnTo>
                    <a:pt x="0" y="177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2654752" cy="234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864176" y="8577356"/>
            <a:ext cx="573856" cy="547498"/>
            <a:chOff x="0" y="0"/>
            <a:chExt cx="142837" cy="1362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2837" cy="136276"/>
            </a:xfrm>
            <a:custGeom>
              <a:avLst/>
              <a:gdLst/>
              <a:ahLst/>
              <a:cxnLst/>
              <a:rect r="r" b="b" t="t" l="l"/>
              <a:pathLst>
                <a:path h="136276" w="142837">
                  <a:moveTo>
                    <a:pt x="0" y="0"/>
                  </a:moveTo>
                  <a:lnTo>
                    <a:pt x="142837" y="0"/>
                  </a:lnTo>
                  <a:lnTo>
                    <a:pt x="142837" y="136276"/>
                  </a:lnTo>
                  <a:lnTo>
                    <a:pt x="0" y="13627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42837" cy="193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3967734" y="8695741"/>
            <a:ext cx="366740" cy="310728"/>
          </a:xfrm>
          <a:custGeom>
            <a:avLst/>
            <a:gdLst/>
            <a:ahLst/>
            <a:cxnLst/>
            <a:rect r="r" b="b" t="t" l="l"/>
            <a:pathLst>
              <a:path h="310728" w="366740">
                <a:moveTo>
                  <a:pt x="0" y="0"/>
                </a:moveTo>
                <a:lnTo>
                  <a:pt x="366739" y="0"/>
                </a:lnTo>
                <a:lnTo>
                  <a:pt x="366739" y="310728"/>
                </a:lnTo>
                <a:lnTo>
                  <a:pt x="0" y="310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28700" y="1553125"/>
            <a:ext cx="16230600" cy="230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7"/>
              </a:lnSpc>
            </a:pPr>
            <a:r>
              <a:rPr lang="en-US" b="true" sz="7829" spc="-305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TRUST: SECURITY AND TRANSPARENCY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813109" y="4997822"/>
            <a:ext cx="9286008" cy="536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</a:pPr>
            <a:r>
              <a:rPr lang="en-US" sz="2448" spc="-95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Credentials stored in Azure Key Vault (never in prompts).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813109" y="6165041"/>
            <a:ext cx="9286008" cy="536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</a:pPr>
            <a:r>
              <a:rPr lang="en-US" sz="2448" spc="-95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Least privilege applied to execution accounts.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813109" y="7329729"/>
            <a:ext cx="11551582" cy="536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</a:pPr>
            <a:r>
              <a:rPr lang="en-US" sz="2448" spc="-95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Runbooks with preconditions and gates (if not met → escalate to human).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652917" y="8509143"/>
            <a:ext cx="12215235" cy="476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7"/>
              </a:lnSpc>
            </a:pPr>
            <a:r>
              <a:rPr lang="en-US" sz="2248" spc="-87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Every action produces a natural-language explanation (what was done and why).</a:t>
            </a:r>
          </a:p>
        </p:txBody>
      </p:sp>
      <p:sp>
        <p:nvSpPr>
          <p:cNvPr name="Freeform 38" id="38"/>
          <p:cNvSpPr/>
          <p:nvPr/>
        </p:nvSpPr>
        <p:spPr>
          <a:xfrm flipH="true" flipV="true" rot="-10800000">
            <a:off x="223816" y="7067626"/>
            <a:ext cx="1065046" cy="3019461"/>
          </a:xfrm>
          <a:custGeom>
            <a:avLst/>
            <a:gdLst/>
            <a:ahLst/>
            <a:cxnLst/>
            <a:rect r="r" b="b" t="t" l="l"/>
            <a:pathLst>
              <a:path h="3019461" w="1065046">
                <a:moveTo>
                  <a:pt x="1065046" y="3019460"/>
                </a:moveTo>
                <a:lnTo>
                  <a:pt x="0" y="3019460"/>
                </a:lnTo>
                <a:lnTo>
                  <a:pt x="0" y="0"/>
                </a:lnTo>
                <a:lnTo>
                  <a:pt x="1065046" y="0"/>
                </a:lnTo>
                <a:lnTo>
                  <a:pt x="1065046" y="30194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81192" y="-824694"/>
            <a:ext cx="22159865" cy="4643228"/>
            <a:chOff x="0" y="0"/>
            <a:chExt cx="6453464" cy="1352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3464" cy="1352215"/>
            </a:xfrm>
            <a:custGeom>
              <a:avLst/>
              <a:gdLst/>
              <a:ahLst/>
              <a:cxnLst/>
              <a:rect r="r" b="b" t="t" l="l"/>
              <a:pathLst>
                <a:path h="1352215" w="6453464">
                  <a:moveTo>
                    <a:pt x="0" y="0"/>
                  </a:moveTo>
                  <a:lnTo>
                    <a:pt x="6453464" y="0"/>
                  </a:lnTo>
                  <a:lnTo>
                    <a:pt x="6453464" y="1352215"/>
                  </a:lnTo>
                  <a:lnTo>
                    <a:pt x="0" y="135221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453464" cy="140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624693"/>
            <a:ext cx="3065323" cy="5324676"/>
            <a:chOff x="0" y="0"/>
            <a:chExt cx="1002299" cy="17410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2299" cy="1741062"/>
            </a:xfrm>
            <a:custGeom>
              <a:avLst/>
              <a:gdLst/>
              <a:ahLst/>
              <a:cxnLst/>
              <a:rect r="r" b="b" t="t" l="l"/>
              <a:pathLst>
                <a:path h="1741062" w="1002299">
                  <a:moveTo>
                    <a:pt x="0" y="0"/>
                  </a:moveTo>
                  <a:lnTo>
                    <a:pt x="1002299" y="0"/>
                  </a:lnTo>
                  <a:lnTo>
                    <a:pt x="1002299" y="1741062"/>
                  </a:lnTo>
                  <a:lnTo>
                    <a:pt x="0" y="17410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02299" cy="1798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94309" y="3966860"/>
            <a:ext cx="1334104" cy="1315666"/>
            <a:chOff x="0" y="0"/>
            <a:chExt cx="436225" cy="4301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6225" cy="430196"/>
            </a:xfrm>
            <a:custGeom>
              <a:avLst/>
              <a:gdLst/>
              <a:ahLst/>
              <a:cxnLst/>
              <a:rect r="r" b="b" t="t" l="l"/>
              <a:pathLst>
                <a:path h="430196" w="436225">
                  <a:moveTo>
                    <a:pt x="0" y="0"/>
                  </a:moveTo>
                  <a:lnTo>
                    <a:pt x="436225" y="0"/>
                  </a:lnTo>
                  <a:lnTo>
                    <a:pt x="436225" y="430196"/>
                  </a:lnTo>
                  <a:lnTo>
                    <a:pt x="0" y="43019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36225" cy="487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322229" y="4624693"/>
            <a:ext cx="3065323" cy="5324676"/>
            <a:chOff x="0" y="0"/>
            <a:chExt cx="1002299" cy="17410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2299" cy="1741062"/>
            </a:xfrm>
            <a:custGeom>
              <a:avLst/>
              <a:gdLst/>
              <a:ahLst/>
              <a:cxnLst/>
              <a:rect r="r" b="b" t="t" l="l"/>
              <a:pathLst>
                <a:path h="1741062" w="1002299">
                  <a:moveTo>
                    <a:pt x="0" y="0"/>
                  </a:moveTo>
                  <a:lnTo>
                    <a:pt x="1002299" y="0"/>
                  </a:lnTo>
                  <a:lnTo>
                    <a:pt x="1002299" y="1741062"/>
                  </a:lnTo>
                  <a:lnTo>
                    <a:pt x="0" y="17410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02299" cy="1798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187838" y="3966860"/>
            <a:ext cx="1334104" cy="1315666"/>
            <a:chOff x="0" y="0"/>
            <a:chExt cx="436225" cy="4301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6225" cy="430196"/>
            </a:xfrm>
            <a:custGeom>
              <a:avLst/>
              <a:gdLst/>
              <a:ahLst/>
              <a:cxnLst/>
              <a:rect r="r" b="b" t="t" l="l"/>
              <a:pathLst>
                <a:path h="430196" w="436225">
                  <a:moveTo>
                    <a:pt x="0" y="0"/>
                  </a:moveTo>
                  <a:lnTo>
                    <a:pt x="436225" y="0"/>
                  </a:lnTo>
                  <a:lnTo>
                    <a:pt x="436225" y="430196"/>
                  </a:lnTo>
                  <a:lnTo>
                    <a:pt x="0" y="43019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36225" cy="487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11818" y="4624693"/>
            <a:ext cx="3065323" cy="5324676"/>
            <a:chOff x="0" y="0"/>
            <a:chExt cx="1002299" cy="17410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2299" cy="1741062"/>
            </a:xfrm>
            <a:custGeom>
              <a:avLst/>
              <a:gdLst/>
              <a:ahLst/>
              <a:cxnLst/>
              <a:rect r="r" b="b" t="t" l="l"/>
              <a:pathLst>
                <a:path h="1741062" w="1002299">
                  <a:moveTo>
                    <a:pt x="0" y="0"/>
                  </a:moveTo>
                  <a:lnTo>
                    <a:pt x="1002299" y="0"/>
                  </a:lnTo>
                  <a:lnTo>
                    <a:pt x="1002299" y="1741062"/>
                  </a:lnTo>
                  <a:lnTo>
                    <a:pt x="0" y="17410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02299" cy="1798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477428" y="3966860"/>
            <a:ext cx="1334104" cy="1315666"/>
            <a:chOff x="0" y="0"/>
            <a:chExt cx="436225" cy="4301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6225" cy="430196"/>
            </a:xfrm>
            <a:custGeom>
              <a:avLst/>
              <a:gdLst/>
              <a:ahLst/>
              <a:cxnLst/>
              <a:rect r="r" b="b" t="t" l="l"/>
              <a:pathLst>
                <a:path h="430196" w="436225">
                  <a:moveTo>
                    <a:pt x="0" y="0"/>
                  </a:moveTo>
                  <a:lnTo>
                    <a:pt x="436225" y="0"/>
                  </a:lnTo>
                  <a:lnTo>
                    <a:pt x="436225" y="430196"/>
                  </a:lnTo>
                  <a:lnTo>
                    <a:pt x="0" y="43019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36225" cy="487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05522" y="4624693"/>
            <a:ext cx="3065323" cy="5472710"/>
            <a:chOff x="0" y="0"/>
            <a:chExt cx="1002299" cy="17894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2299" cy="1789466"/>
            </a:xfrm>
            <a:custGeom>
              <a:avLst/>
              <a:gdLst/>
              <a:ahLst/>
              <a:cxnLst/>
              <a:rect r="r" b="b" t="t" l="l"/>
              <a:pathLst>
                <a:path h="1789466" w="1002299">
                  <a:moveTo>
                    <a:pt x="0" y="0"/>
                  </a:moveTo>
                  <a:lnTo>
                    <a:pt x="1002299" y="0"/>
                  </a:lnTo>
                  <a:lnTo>
                    <a:pt x="1002299" y="1789466"/>
                  </a:lnTo>
                  <a:lnTo>
                    <a:pt x="0" y="17894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002299" cy="1846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771131" y="3966860"/>
            <a:ext cx="1334104" cy="1315666"/>
            <a:chOff x="0" y="0"/>
            <a:chExt cx="436225" cy="4301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6225" cy="430196"/>
            </a:xfrm>
            <a:custGeom>
              <a:avLst/>
              <a:gdLst/>
              <a:ahLst/>
              <a:cxnLst/>
              <a:rect r="r" b="b" t="t" l="l"/>
              <a:pathLst>
                <a:path h="430196" w="436225">
                  <a:moveTo>
                    <a:pt x="0" y="0"/>
                  </a:moveTo>
                  <a:lnTo>
                    <a:pt x="436225" y="0"/>
                  </a:lnTo>
                  <a:lnTo>
                    <a:pt x="436225" y="430196"/>
                  </a:lnTo>
                  <a:lnTo>
                    <a:pt x="0" y="43019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436225" cy="487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193977" y="4624693"/>
            <a:ext cx="3065323" cy="5472710"/>
            <a:chOff x="0" y="0"/>
            <a:chExt cx="1002299" cy="17894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2299" cy="1789466"/>
            </a:xfrm>
            <a:custGeom>
              <a:avLst/>
              <a:gdLst/>
              <a:ahLst/>
              <a:cxnLst/>
              <a:rect r="r" b="b" t="t" l="l"/>
              <a:pathLst>
                <a:path h="1789466" w="1002299">
                  <a:moveTo>
                    <a:pt x="0" y="0"/>
                  </a:moveTo>
                  <a:lnTo>
                    <a:pt x="1002299" y="0"/>
                  </a:lnTo>
                  <a:lnTo>
                    <a:pt x="1002299" y="1789466"/>
                  </a:lnTo>
                  <a:lnTo>
                    <a:pt x="0" y="17894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002299" cy="1846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059586" y="3966860"/>
            <a:ext cx="1334104" cy="1315666"/>
            <a:chOff x="0" y="0"/>
            <a:chExt cx="436225" cy="4301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6225" cy="430196"/>
            </a:xfrm>
            <a:custGeom>
              <a:avLst/>
              <a:gdLst/>
              <a:ahLst/>
              <a:cxnLst/>
              <a:rect r="r" b="b" t="t" l="l"/>
              <a:pathLst>
                <a:path h="430196" w="436225">
                  <a:moveTo>
                    <a:pt x="0" y="0"/>
                  </a:moveTo>
                  <a:lnTo>
                    <a:pt x="436225" y="0"/>
                  </a:lnTo>
                  <a:lnTo>
                    <a:pt x="436225" y="430196"/>
                  </a:lnTo>
                  <a:lnTo>
                    <a:pt x="0" y="43019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436225" cy="487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535843" y="157166"/>
            <a:ext cx="11216314" cy="342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7"/>
              </a:lnSpc>
            </a:pPr>
            <a:r>
              <a:rPr lang="en-US" b="true" sz="7829" spc="-305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EXAMPLE CONCURRENT FLOW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29704" y="4152725"/>
            <a:ext cx="663314" cy="105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0"/>
              </a:lnSpc>
            </a:pPr>
            <a:r>
              <a:rPr lang="en-US" b="true" sz="6973" spc="-271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64252" y="5810881"/>
            <a:ext cx="2394220" cy="1873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9"/>
              </a:lnSpc>
            </a:pPr>
            <a:r>
              <a:rPr lang="en-US" b="true" sz="2105" spc="-82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2,000 “reset password” requests in 1 minute.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523233" y="4152725"/>
            <a:ext cx="663314" cy="105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0"/>
              </a:lnSpc>
            </a:pPr>
            <a:r>
              <a:rPr lang="en-US" b="true" sz="6973" spc="-271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657780" y="5720676"/>
            <a:ext cx="2394220" cy="1873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9"/>
              </a:lnSpc>
            </a:pPr>
            <a:r>
              <a:rPr lang="en-US" b="true" sz="2105" spc="-82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Messages enter the Service Bus topic.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812823" y="4152725"/>
            <a:ext cx="663314" cy="105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0"/>
              </a:lnSpc>
            </a:pPr>
            <a:r>
              <a:rPr lang="en-US" b="true" sz="6973" spc="-271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949327" y="5539701"/>
            <a:ext cx="2394220" cy="377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9"/>
              </a:lnSpc>
            </a:pPr>
            <a:r>
              <a:rPr lang="en-US" b="true" sz="2105" spc="-82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Coordinator pulls messages at a steady rate and performs minimal identity validation.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106526" y="4152725"/>
            <a:ext cx="663314" cy="105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0"/>
              </a:lnSpc>
            </a:pPr>
            <a:r>
              <a:rPr lang="en-US" b="true" sz="6973" spc="-271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239116" y="5539701"/>
            <a:ext cx="2394220" cy="377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9"/>
              </a:lnSpc>
            </a:pPr>
            <a:r>
              <a:rPr lang="en-US" b="true" sz="2105" spc="-82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IT Runbook Agent scales to execute concurrent resets using credentials stored in Key Vault.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394981" y="4152725"/>
            <a:ext cx="663314" cy="105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0"/>
              </a:lnSpc>
            </a:pPr>
            <a:r>
              <a:rPr lang="en-US" b="true" sz="6973" spc="-271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529529" y="5292051"/>
            <a:ext cx="2394220" cy="465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9"/>
              </a:lnSpc>
            </a:pPr>
            <a:r>
              <a:rPr lang="en-US" b="true" sz="2005" spc="-78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Automatic responses and tickets are created. Only ~5% require human verification → re-routed to Administrative Agent / operator.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2686" y="0"/>
            <a:ext cx="10473813" cy="11503335"/>
            <a:chOff x="0" y="0"/>
            <a:chExt cx="3050216" cy="33500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50216" cy="3350036"/>
            </a:xfrm>
            <a:custGeom>
              <a:avLst/>
              <a:gdLst/>
              <a:ahLst/>
              <a:cxnLst/>
              <a:rect r="r" b="b" t="t" l="l"/>
              <a:pathLst>
                <a:path h="3350036" w="3050216">
                  <a:moveTo>
                    <a:pt x="0" y="0"/>
                  </a:moveTo>
                  <a:lnTo>
                    <a:pt x="3050216" y="0"/>
                  </a:lnTo>
                  <a:lnTo>
                    <a:pt x="3050216" y="3350036"/>
                  </a:lnTo>
                  <a:lnTo>
                    <a:pt x="0" y="33500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050216" cy="3407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65954" y="3315380"/>
            <a:ext cx="7322175" cy="4872575"/>
          </a:xfrm>
          <a:custGeom>
            <a:avLst/>
            <a:gdLst/>
            <a:ahLst/>
            <a:cxnLst/>
            <a:rect r="r" b="b" t="t" l="l"/>
            <a:pathLst>
              <a:path h="4872575" w="7322175">
                <a:moveTo>
                  <a:pt x="0" y="0"/>
                </a:moveTo>
                <a:lnTo>
                  <a:pt x="7322175" y="0"/>
                </a:lnTo>
                <a:lnTo>
                  <a:pt x="7322175" y="4872575"/>
                </a:lnTo>
                <a:lnTo>
                  <a:pt x="0" y="4872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57934" y="190263"/>
            <a:ext cx="8077313" cy="342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7"/>
              </a:lnSpc>
            </a:pPr>
            <a:r>
              <a:rPr lang="en-US" b="true" sz="7829" spc="-305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CONCLUSION &amp; NEXT STEPS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57934" y="4184014"/>
            <a:ext cx="7621904" cy="477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Reduce wait times and backlog: automate routine tasks + use RAG for reliable answers.</a:t>
            </a:r>
          </a:p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Scalable, concurrent architecture with Service Bus and containers.</a:t>
            </a:r>
          </a:p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Build trust through security, traceability and user explanations.</a:t>
            </a:r>
          </a:p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Next steps: integrate with the real SIS, perform load testing, pilot with one faculty/unit.</a:t>
            </a:r>
          </a:p>
          <a:p>
            <a:pPr algn="l">
              <a:lnSpc>
                <a:spcPts val="4254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DAG6A-K2FUo</dc:identifier>
  <dcterms:modified xsi:type="dcterms:W3CDTF">2011-08-01T06:04:30Z</dcterms:modified>
  <cp:revision>1</cp:revision>
  <dc:title>Multi-Agent Service Desk for Education</dc:title>
</cp:coreProperties>
</file>